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antason Bold" charset="1" panose="00000000000000000000"/>
      <p:regular r:id="rId19"/>
    </p:embeddedFont>
    <p:embeddedFont>
      <p:font typeface="Cloud" charset="1" panose="02000000000000000000"/>
      <p:regular r:id="rId20"/>
    </p:embeddedFont>
    <p:embeddedFont>
      <p:font typeface="Anantason" charset="1" panose="00000000000000000000"/>
      <p:regular r:id="rId21"/>
    </p:embeddedFont>
    <p:embeddedFont>
      <p:font typeface="Cloud Bold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534949"/>
            <a:ext cx="1301849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EXPLORATORY DATA ANALYSIS (EDA) FOR REAL ESTATE PRICING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82925" y="5575353"/>
            <a:ext cx="8522150" cy="102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2"/>
              </a:lnSpc>
            </a:pPr>
            <a:r>
              <a:rPr lang="en-US" sz="5873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By Ankit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7910" y="2217197"/>
            <a:ext cx="4112181" cy="99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8"/>
              </a:lnSpc>
              <a:spcBef>
                <a:spcPct val="0"/>
              </a:spcBef>
            </a:pPr>
            <a:r>
              <a:rPr lang="en-US" sz="587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NEXT HIKES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71481" y="2336088"/>
            <a:ext cx="10745038" cy="127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9"/>
              </a:lnSpc>
            </a:pPr>
            <a:r>
              <a:rPr lang="en-US" b="true" sz="747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PROBLEM STATEMENT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5813" y="4225990"/>
            <a:ext cx="12376375" cy="299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Real estate pricing depends on many factors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Objective: Identify how size, quality, amenities, and trends affect house prices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Provide insights for pricing strategy and property valuation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55813" y="7844856"/>
            <a:ext cx="132809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TOOLS USED: PYTHON, PANDAS, SEABORN, PLOTLY,MATPLOT, JUPYTER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8823" y="2004629"/>
            <a:ext cx="10890353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DATA CLEANING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8823" y="4319803"/>
            <a:ext cx="12376375" cy="299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Missing values handled (mode, None, median-based)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Sparse columns (like Alley) dropped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Duplicates removed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Outliers checked (4000+ sqft kept as luxury homes)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New features created: HouseAge, TotalSF, PricePerSF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289744"/>
            <a:ext cx="16533023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UNIVARIATE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225990"/>
            <a:ext cx="12376375" cy="299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SalePrice Histogram + KDE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GrLivArea Histogram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OverallQual Countplot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LotShape Countplot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7149531"/>
            <a:ext cx="16710369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INSIGHTS: </a:t>
            </a:r>
            <a:r>
              <a:rPr lang="en-US" sz="30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SALEPRICE IS RIGHT SKEWED WITH A FEW HIGH VALUE LUXURY HOMES.GRLIVAREA SHOWS SIMILAR DISTRIBUTION.QUALITY AND LOT SHAPE SHOW STRONG CATEGORICAL VARIATION.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90405" y="5143500"/>
            <a:ext cx="7888455" cy="4718269"/>
          </a:xfrm>
          <a:custGeom>
            <a:avLst/>
            <a:gdLst/>
            <a:ahLst/>
            <a:cxnLst/>
            <a:rect r="r" b="b" t="t" l="l"/>
            <a:pathLst>
              <a:path h="4718269" w="7888455">
                <a:moveTo>
                  <a:pt x="0" y="0"/>
                </a:moveTo>
                <a:lnTo>
                  <a:pt x="7888455" y="0"/>
                </a:lnTo>
                <a:lnTo>
                  <a:pt x="7888455" y="4718269"/>
                </a:lnTo>
                <a:lnTo>
                  <a:pt x="0" y="4718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49" t="-11293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1366" y="2289744"/>
            <a:ext cx="14035060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BIVARIATE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2708" y="5950115"/>
            <a:ext cx="7304312" cy="233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Insights: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Bigger houses → higher price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Quality rating is the strongest driver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LotShape shows mild impact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905125" y="3894985"/>
            <a:ext cx="7254399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GRLIVAREA VS SALEPRICE (PLOTLY SCATTER)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OVERALLQUAL VS SALEPRICE (BOXPLOT)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LOTSHAPE VS SALEPRICE (BOXPLOT)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20986" y="3757612"/>
            <a:ext cx="7115690" cy="6061514"/>
          </a:xfrm>
          <a:custGeom>
            <a:avLst/>
            <a:gdLst/>
            <a:ahLst/>
            <a:cxnLst/>
            <a:rect r="r" b="b" t="t" l="l"/>
            <a:pathLst>
              <a:path h="6061514" w="7115690">
                <a:moveTo>
                  <a:pt x="0" y="0"/>
                </a:moveTo>
                <a:lnTo>
                  <a:pt x="7115690" y="0"/>
                </a:lnTo>
                <a:lnTo>
                  <a:pt x="7115690" y="6061514"/>
                </a:lnTo>
                <a:lnTo>
                  <a:pt x="0" y="60615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4450" y="2289744"/>
            <a:ext cx="15944850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CORRELATION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8742" y="3856885"/>
            <a:ext cx="8372243" cy="6590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Insert chart: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Top 10 Correlation Heatmap</a:t>
            </a: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Insights: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OverallQual, GrLivArea, TotalSF show strongest correlation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Garage and basement area moderate impact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Bedroom count surprisingly weak predictor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5047" y="2289744"/>
            <a:ext cx="17469098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FEATURE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56180" y="4681855"/>
            <a:ext cx="12376375" cy="359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Created features: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TotalSF = TotalBsmtSF + GrLivArea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PricePerSF = SalePrice / GrLivArea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HouseAge = YrSold – YearBuilt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8552" y="2050536"/>
            <a:ext cx="17919448" cy="164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b="true" sz="960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SIZE IMPACT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3940875"/>
            <a:ext cx="12376375" cy="419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Insert charts: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BedroomAbvGr vs SalePrice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FullBath vs SalePrice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TotalSF vs SalePrice (bivariate)</a:t>
            </a: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Insight: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TotalSF explains price far better than bedroom count.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1735" y="1230191"/>
            <a:ext cx="15384530" cy="307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27"/>
              </a:lnSpc>
            </a:pPr>
            <a:r>
              <a:rPr lang="en-US" b="true" sz="88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MARKET TRENDS &amp; HISTORICAL PRICING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722125"/>
            <a:ext cx="12376375" cy="299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Insert chart: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Average SalePrice by Year Sold</a:t>
            </a: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Insight: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Market stable across years with mild fluctuations; no strong upward trend.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2770" y="1528763"/>
            <a:ext cx="16706530" cy="313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64"/>
              </a:lnSpc>
            </a:pPr>
            <a:r>
              <a:rPr lang="en-US" b="true" sz="897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CUSTOMER PREFERENCES &amp; AMENITIES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5813" y="4876699"/>
            <a:ext cx="12376375" cy="479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Insert charts: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GarageArea vs SalePrice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PoolArea vs SalePrice</a:t>
            </a: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Insights: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Large garage space increases price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Pool houses are expensive but rare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2770" y="2108042"/>
            <a:ext cx="16706530" cy="153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64"/>
              </a:lnSpc>
            </a:pPr>
            <a:r>
              <a:rPr lang="en-US" b="true" sz="8974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AI INTEGRATION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7938" y="3870060"/>
            <a:ext cx="12376375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 helped suggest color palettes for clarity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 guided selection of meaningful charts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AI refined the storyline and insights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30388" y="2412091"/>
            <a:ext cx="7627223" cy="153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64"/>
              </a:lnSpc>
              <a:spcBef>
                <a:spcPct val="0"/>
              </a:spcBef>
            </a:pPr>
            <a:r>
              <a:rPr lang="en-US" b="true" sz="8974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</a:t>
            </a:r>
            <a:r>
              <a:rPr lang="en-US" b="true" sz="8974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68501" y="4124960"/>
            <a:ext cx="12376375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EDA helped uncover strong relationships influencing house prices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These insights support strategic pricing, valuation and real-estate decision-making.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73169" y="4281165"/>
            <a:ext cx="6941662" cy="166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4"/>
              </a:lnSpc>
              <a:spcBef>
                <a:spcPct val="0"/>
              </a:spcBef>
            </a:pPr>
            <a:r>
              <a:rPr lang="en-US" b="true" sz="9774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DAG-HqCNYOg</dc:identifier>
  <dcterms:modified xsi:type="dcterms:W3CDTF">2011-08-01T06:04:30Z</dcterms:modified>
  <cp:revision>1</cp:revision>
  <dc:title>Ankit</dc:title>
</cp:coreProperties>
</file>